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acumulado (€)</c:v>
                </c:pt>
              </c:strCache>
            </c:strRef>
          </c:tx>
          <c:spPr>
            <a:solidFill>
              <a:srgbClr val="3EA6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Mes 3</c:v>
                  </c:pt>
                  <c:pt idx="1">
                    <c:v>Mes 6</c:v>
                  </c:pt>
                  <c:pt idx="2">
                    <c:v>Mes 9</c:v>
                  </c:pt>
                  <c:pt idx="3">
                    <c:v>Mes 12</c:v>
                  </c:pt>
                  <c:pt idx="4">
                    <c:v>Mes 18</c:v>
                  </c:pt>
                  <c:pt idx="5">
                    <c:v>Mes 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8500</c:v>
                </c:pt>
                <c:pt idx="1">
                  <c:v>24000</c:v>
                </c:pt>
                <c:pt idx="2">
                  <c:v>46000</c:v>
                </c:pt>
                <c:pt idx="3">
                  <c:v>72000</c:v>
                </c:pt>
                <c:pt idx="4">
                  <c:v>128000</c:v>
                </c:pt>
                <c:pt idx="5">
                  <c:v>195000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8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8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  ·  CONFIDENCIAL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560320" cy="1536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560320"/>
            <a:ext cx="2286000" cy="0"/>
          </a:xfrm>
          <a:prstGeom prst="line">
            <a:avLst/>
          </a:prstGeom>
          <a:noFill/>
          <a:ln w="25400">
            <a:solidFill>
              <a:srgbClr val="3EA6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83464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Telemetría industrial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avanzada para flotas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aspirado y barrido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CAN bus en tiempo real  ·  Hidráulica, PTO, rutas, mantenimiento predictivo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WASTERENT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62495" y="6035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Metalhidráulica S.L.  ·  C/ Fundación Marqués de Dos Aguas 9, Valencia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 de operar una flota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maquinaria especial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telemática genéricos no ven lo que realmente importa en camiones aspirador, cisterna y barredora: el circuito hidráulico.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108960"/>
            <a:ext cx="73152" cy="26517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83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Averías hidráulicas no anticipadas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Presiones fuera de rango, aceite sobrecalentado o niveles bajos se detectan cuando ya hay daño mecánico.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310896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3108960"/>
            <a:ext cx="73152" cy="26517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3832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improductivo oculto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 conectado sin trabajo real, esperas largas en punto de carga, rutas ineficientes que no aparecen en el GPS.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310896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3108960"/>
            <a:ext cx="73152" cy="26517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3832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y mantenimiento reactivo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 programadas por horas de motor, no por horas reales de PTO o ciclos hidráulicos.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310896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3108960"/>
            <a:ext cx="73152" cy="26517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3832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métricas operativas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18320" y="4709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demostrar al cliente final productividad, m³ aspirados, cubas descargadas o tiempo útil por ruta.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CMG Telematics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IoT diseñada específicamente para flotas de maquinaria industrial. Integra el GPS/4G convencional con datos profundos del bus CAN: lo que mueve, lo que presiona, lo que aspira.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291840" cy="4480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423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Teltonika FMC650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GPS/4G · CAN J1939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31089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 CR2530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112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CANopen 250 kbps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7947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0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asyncio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961120" y="4050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TCP Codec 8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4805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0" y="4462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961120" y="4736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516636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0" y="5148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+ API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961120" y="5422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rol-based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40080" y="265176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332"/>
                </a:solidFill>
              </a:rPr>
              <a:t>Datos CAN bus en tiempo real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E4C59"/>
                </a:solidFill>
              </a:rPr>
              <a:t>Presiones hidráulicas, niveles, estado PTO, válvulas, temperatura de aceite.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332"/>
                </a:solidFill>
              </a:rPr>
              <a:t>Alertas operativas y predictivas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E4C59"/>
                </a:solidFill>
              </a:rPr>
              <a:t>Sobrepresión, bajo nivel de aceite, uso anómalo de PTO, mantenimiento por horas reales.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332"/>
                </a:solidFill>
              </a:rPr>
              <a:t>Rutas, geofences y productividad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3E4C59"/>
                </a:solidFill>
              </a:rPr>
              <a:t>Ciclos de carga/descarga, tiempos por punto, reportes automáticos para cliente final.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CAPACIDADES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 del circuito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hidráulico, en tiempo real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Instrumentamos el vehículo en los puntos críticos del sistema hidráulico y enviamos los datos a vuestro portal. Lo que antes era invisible hasta que pasaba algo, ahora se ve antes.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0040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bombas principales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sensores 0-600 bar que vigilan si las bombas trabajan en rango o están fuera de tolerancia.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320040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20040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aceite hidráulico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capacitivo que detecta bajadas de nivel, indicador precoz de fugas en el circuito.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320040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320040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filtro de retorno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presión 0-20 bar en la línea antes del filtro; avisa cuando se ensucia y hay que cambiarlo.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98348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del aceite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en admisión de bombas. Sobretemperatura = aviso antes de daño térmico.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98348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498348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autoengrase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5623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Presostato en línea de engrase. Si no arranca el ciclo en un tiempo determinado, hay avería.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4983480"/>
            <a:ext cx="3566160" cy="160020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983480"/>
            <a:ext cx="73152" cy="16002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vaciado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5623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inductivo en brazo portacontenedores. Cuenta vaciados reales, productividad por ruta.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bus CAN al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2468880" cy="201168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743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 aspirador · cisterna · barredora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IFM CR2530 lee sensores hidráulicos y publica tramas CAN a 250 kbps (J1939/CANopen).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3154680" y="3429000"/>
            <a:ext cx="274320" cy="274320"/>
          </a:xfrm>
          <a:prstGeom prst="rtTriangle">
            <a:avLst/>
          </a:prstGeom>
          <a:solidFill>
            <a:srgbClr val="3EA698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560320"/>
            <a:ext cx="2468880" cy="2011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0332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743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Teltonika FMC650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7033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+ 4G + CAN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0332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tramas CAN, GPS, IGN y tensión. Envía por 4G vía protocolo Codec 8 al servidor.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 rot="5400000">
            <a:off x="5989320" y="3429000"/>
            <a:ext cx="274320" cy="274320"/>
          </a:xfrm>
          <a:prstGeom prst="rtTriangle">
            <a:avLst/>
          </a:prstGeom>
          <a:solidFill>
            <a:srgbClr val="3EA698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0" y="2560320"/>
            <a:ext cx="2468880" cy="2011680"/>
          </a:xfrm>
          <a:prstGeom prst="rect">
            <a:avLst/>
          </a:prstGeom>
          <a:solidFill>
            <a:srgbClr val="3EA698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3796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Hetzner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379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TimescaleDB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3796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TCP asíncrona, decodificación de AVL ID, almacenaje en series temporales.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 rot="5400000">
            <a:off x="8823960" y="3429000"/>
            <a:ext cx="274320" cy="274320"/>
          </a:xfrm>
          <a:prstGeom prst="rtTriangle">
            <a:avLst/>
          </a:prstGeom>
          <a:solidFill>
            <a:srgbClr val="3EA698"/>
          </a:solidFill>
          <a:ln/>
        </p:spPr>
      </p:sp>
      <p:sp>
        <p:nvSpPr>
          <p:cNvPr id="25" name="Shape 20"/>
          <p:cNvSpPr/>
          <p:nvPr/>
        </p:nvSpPr>
        <p:spPr>
          <a:xfrm>
            <a:off x="9144000" y="2560320"/>
            <a:ext cx="2468880" cy="201168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37260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7432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726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Wasterent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726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API + alertas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37260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vehículo, por cliente final, exportación de reportes, integración con ERP.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30s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77724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punta a dashboard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5204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kbps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352044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bus CAN industrial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2636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99.5 %</a:t>
            </a:r>
            <a:endParaRPr lang="en-US" sz="2600" dirty="0"/>
          </a:p>
        </p:txBody>
      </p:sp>
      <p:sp>
        <p:nvSpPr>
          <p:cNvPr id="37" name="Text 31"/>
          <p:cNvSpPr/>
          <p:nvPr/>
        </p:nvSpPr>
        <p:spPr>
          <a:xfrm>
            <a:off x="626364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disponibilidad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0068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600" dirty="0"/>
          </a:p>
        </p:txBody>
      </p:sp>
      <p:sp>
        <p:nvSpPr>
          <p:cNvPr id="39" name="Text 33"/>
          <p:cNvSpPr/>
          <p:nvPr/>
        </p:nvSpPr>
        <p:spPr>
          <a:xfrm>
            <a:off x="900684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configurables por vehículo</a:t>
            </a:r>
            <a:endParaRPr lang="en-US" sz="10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FUNCIONALIDADES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Pensado para la operativa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de Wasterent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tiempo real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Ubicación, ruta, velocidad y ETA por vehículo. Geofences para puntos de servicio y vertederos.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1945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hidráulico en vivo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bomba, nivel de aceite, temperatura, estado de PTO y válvulas por unidad.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21945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423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inteligentes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Sobrepresión, bajo nivel, anomalías térmicas, uso fuera de horario o fuera de zona.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2519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4400" y="5303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por horas reales de PTO o ciclos hidráulicos, no por km. Avisos antes del fallo.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2519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89120" y="42519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480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productividad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63440" y="5303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Cubas descargadas, m³ aspirados, tiempo útil vs tiempo de desplazamiento, por ruta y conductor.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251960"/>
            <a:ext cx="35661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38160" y="4251960"/>
            <a:ext cx="73152" cy="187452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4805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cliente final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12480" y="5303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 para tus clientes: ven sus servicios, sin ver la flota completa. Diferenciación comercial.</a:t>
            </a:r>
            <a:endParaRPr lang="en-US" sz="10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IMPACTO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 estimado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una flota de 50 vehículos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6616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−18 %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taller por averías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hidráulicas no planificadas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356616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514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+12 %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38912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real de flota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rutas optimizadas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566160" cy="192024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514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EA6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−22 %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13816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de gestión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incidencias por cliente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operativo acumulado estimado (flota 50 uds.)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4937760"/>
          <a:ext cx="10972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basada en benchmarks del sector. Valores reales a validar durante el piloto.</a:t>
            </a:r>
            <a:endParaRPr lang="en-US" sz="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PLAN DE IMPLEMENTACIÓN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en 4 fases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697480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vehículo piloto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Selección del vehículo representativo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Instalación conjunta en taller CMG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Configuración Teltonika + IFM + sensores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Validación de señales y primeros datos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828800"/>
            <a:ext cx="26974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938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operativa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 en operación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34747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Captura de 4-6 semanas de datos reales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Calibración de alertas y umbrales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Personalización del portal Wasterent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Formación para futuros montajes propios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828800"/>
            <a:ext cx="2697480" cy="82296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38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 en kits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13 en adelante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escalado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4747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Envío de kits pre-cableados desde CMG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Instalación por vuestro equipo con soporte remoto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Videollamada de soporte en primer montaje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Go-live progresivo por zona o cliente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182880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1828800"/>
            <a:ext cx="269748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1938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evolución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34747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Soporte técnico dedicado (SLA)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Revisión trimestral de KPIs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Nuevas señales / integraciones bajo demanda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E4C59"/>
                </a:solidFill>
              </a:rPr>
              <a:t>Actualizaciones firmware / plataforma</a:t>
            </a:r>
            <a:endParaRPr lang="en-US" sz="10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MODELO COMERCIAL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prototipo juntos,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kits para vuestro taller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con un vehículo instalado conjuntamente en nuestro taller. Validamos, afinamos y transferimos el conocimiento. A partir del segundo vehículo, os enviamos kits auto-montables con soporte remoto.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120640" cy="347472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291840"/>
            <a:ext cx="51206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PROTOTIPO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vehículo piloto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2.950 €</a:t>
            </a:r>
            <a:pPr indent="0" marL="0">
              <a:buNone/>
            </a:pPr>
            <a:r>
              <a:rPr lang="en-US" sz="1200" dirty="0">
                <a:solidFill>
                  <a:srgbClr val="7A8894"/>
                </a:solidFill>
              </a:rPr>
              <a:t>  cerrado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05840" y="51206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E4C59"/>
                </a:solidFill>
              </a:rPr>
              <a:t>Hardware completo + instalación conjunta en taller CMG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E4C59"/>
                </a:solidFill>
              </a:rPr>
              <a:t>Personalización del portal a vuestra operativa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E4C59"/>
                </a:solidFill>
              </a:rPr>
              <a:t>6 meses de SaaS incluidos durante validación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E4C59"/>
                </a:solidFill>
              </a:rPr>
              <a:t>Ajustes iterativos sobre sensores, alertas y dashboard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3E4C59"/>
                </a:solidFill>
              </a:rPr>
              <a:t>Formación al equipo para futuros montajes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291840"/>
            <a:ext cx="51206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291840"/>
            <a:ext cx="5120640" cy="73152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KIT AUTO-MONTABLE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cada vehículo adicional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4297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A6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1.350 €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  /kit + envío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51206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</a:rPr>
              <a:t>Kit pre-cableado y pre-testado en taller CMG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</a:rPr>
              <a:t>Manual de montaje ilustrado + vídeo paso a paso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</a:rPr>
              <a:t>Videollamada de soporte con técnico CMG al instalar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</a:rPr>
              <a:t>Asistencia telefónica durante el despliegue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</a:rPr>
              <a:t>Garantía hardware 24 meses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SUSCRIPCIÓN SaaS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formas de contratar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plataforma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plataforma, mismo soporte, mismas funcionalidades. Cambia solo el nivel de compromiso y el ahorro asociado.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566160" cy="356616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017520"/>
            <a:ext cx="356616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compromiso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32 €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/vehículo/mes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5486400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6080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factura al inicio de cada 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3566160" cy="3566160"/>
          </a:xfrm>
          <a:prstGeom prst="rect">
            <a:avLst/>
          </a:prstGeom>
          <a:solidFill>
            <a:srgbClr val="F4F7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017520"/>
            <a:ext cx="3566160" cy="73152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Pago cada 6 meses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A6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174 €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70916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/vehículo/semestre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5486400"/>
            <a:ext cx="731520" cy="0"/>
          </a:xfrm>
          <a:prstGeom prst="line">
            <a:avLst/>
          </a:prstGeom>
          <a:noFill/>
          <a:ln w="19050">
            <a:solidFill>
              <a:srgbClr val="3EA6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29 €/mes  ·  ahorro 10 %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6080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factura al inicio de cada semestre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3017520"/>
            <a:ext cx="3566160" cy="3566160"/>
          </a:xfrm>
          <a:prstGeom prst="rect">
            <a:avLst/>
          </a:prstGeom>
          <a:solidFill>
            <a:srgbClr val="000000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3017520"/>
            <a:ext cx="35661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2720" y="2880360"/>
            <a:ext cx="1234440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2880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5820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5820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Pago anticipado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5820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324 €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84582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/vehículo/año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58200" y="5486400"/>
            <a:ext cx="73152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27 €/mes  ·  ahorro 15 %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6080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factura al inicio de cada año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planes incluyen: plataforma completa, conectividad 4G, almacenamiento histórico, soporte L1/L2, SLA 99,5 %, actualizaciones y nuevas funcionalidades.</a:t>
            </a:r>
            <a:endParaRPr lang="en-US" sz="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ACUERDO MARCO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Condiciones del acuerdo a 3 años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pensado para una relación 100-200 vehículos en 24-36 meses, con precios bloqueados y reglas claras para ambas partes.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bloqueados 24 meses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SaaS se mantienen fijos durante los primeros 24 meses desde la firma. A partir del mes 25, revisión anual IPC (mínimo 2 %, máximo 5 %).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4688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46888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ligado al hardware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SaaS mínimo 24 meses por cada vehículo instalado. El hardware se factura solo con contrato SaaS firmado.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46888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indicativo 100-200 veh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3154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dimensionado para ese rango. El precio del kit recogido aplica desde el segundo vehículo siempre que el ritmo de despliegue sea razonable.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8056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 blanda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camiones aspirador y cisterna de Wasterent usan CMG Telematics salvo causa técnica justificada por escrito.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448056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48056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hitos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Prototipo: 50 % al pedido, 50 % a puesta en marcha. Kits: 50 % al pedido del lote, 50 % a entrega. SaaS: anticipado según modalidad.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48056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4480560"/>
            <a:ext cx="73152" cy="18288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y propiedad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51663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hardware 24 meses siguiendo el manual de instalación CMG. La plataforma CMG Telematics es propiedad de CMG; Wasterent recibe licencia de uso durante la vigencia del contrato.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POR QUÉ CMG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somos una telemática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genérica que se aprende hidráulica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una ingeniería electrohidráulica que construyó su propia plataforma de telemática.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926080"/>
            <a:ext cx="73152" cy="31089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46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electrohidráulica propia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y montamos sistemas para camiones aspirador, cisternas, barredoras y maquinaria especial desde hace años.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9260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926080"/>
            <a:ext cx="73152" cy="31089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246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del PLC y bus CAN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4800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Programamos IFM CODESYS y configuramos la telemetría juntas. La integración funciona porque conocemos las dos capas.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9260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2926080"/>
            <a:ext cx="73152" cy="31089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46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Interlocutor único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83680" y="4800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instalación, plataforma y soporte bajo un solo proveedor. Sin culpas cruzadas entre integrador y fabricante.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9260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2926080"/>
            <a:ext cx="73152" cy="3108960"/>
          </a:xfrm>
          <a:prstGeom prst="rect">
            <a:avLst/>
          </a:prstGeom>
          <a:solidFill>
            <a:srgbClr val="3EA69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32461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886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ya lo usan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18320" y="4800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Implantado en operativa real con Wasterent y PREZERO. Casos concretos y referencias disponibles.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320040"/>
            <a:ext cx="777240" cy="4663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Telematics  ·  Propuesta Wasterent  ·  Abril 2026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A6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SIGUIENTE PASO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Empecemos por</a:t>
            </a:r>
            <a:endParaRPr lang="en-US" sz="5800" dirty="0"/>
          </a:p>
          <a:p>
            <a:pPr indent="0" marL="0">
              <a:buNone/>
            </a:pPr>
            <a:r>
              <a:rPr lang="en-US" sz="5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prototipo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 semanas tendréis datos reales de vuestra propia operativa en un vehículo.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compromiso de roll-out si no cumple expectativas.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365760" cy="365760"/>
          </a:xfrm>
          <a:prstGeom prst="ellipse">
            <a:avLst/>
          </a:prstGeom>
          <a:solidFill>
            <a:srgbClr val="3EA69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técnica de alcance y selección del vehículo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365760" cy="365760"/>
          </a:xfrm>
          <a:prstGeom prst="ellipse">
            <a:avLst/>
          </a:prstGeom>
          <a:solidFill>
            <a:srgbClr val="3EA69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detalle y contrato de prototipo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577840"/>
            <a:ext cx="365760" cy="365760"/>
          </a:xfrm>
          <a:prstGeom prst="ellipse">
            <a:avLst/>
          </a:prstGeom>
          <a:solidFill>
            <a:srgbClr val="3EA69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conjunta en taller CMG y puesta en marcha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6263640"/>
            <a:ext cx="4572000" cy="0"/>
          </a:xfrm>
          <a:prstGeom prst="line">
            <a:avLst/>
          </a:prstGeom>
          <a:noFill/>
          <a:ln w="12700">
            <a:solidFill>
              <a:srgbClr val="3EA6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Metalhidráulica S.L.  ·  C/ Fundación Marqués de Dos Aguas 9, Valencia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cmgnexus.es  ·  www.cmghidraulica.com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CMG 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CMG Telematics — Propuesta Wasterent</dc:title>
  <dc:subject>PptxGenJS Presentation</dc:subject>
  <dc:creator>CMG Metalhidráulica S.L.</dc:creator>
  <cp:lastModifiedBy>CMG Metalhidráulica S.L.</cp:lastModifiedBy>
  <cp:revision>1</cp:revision>
  <dcterms:created xsi:type="dcterms:W3CDTF">2026-04-17T17:48:43Z</dcterms:created>
  <dcterms:modified xsi:type="dcterms:W3CDTF">2026-04-17T17:48:43Z</dcterms:modified>
</cp:coreProperties>
</file>